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65" r:id="rId4"/>
    <p:sldId id="290" r:id="rId5"/>
    <p:sldId id="266" r:id="rId6"/>
    <p:sldId id="261" r:id="rId7"/>
    <p:sldId id="291" r:id="rId8"/>
    <p:sldId id="289" r:id="rId9"/>
    <p:sldId id="292" r:id="rId10"/>
    <p:sldId id="263" r:id="rId11"/>
    <p:sldId id="288" r:id="rId12"/>
  </p:sldIdLst>
  <p:sldSz cx="9144000" cy="6858000" type="screen4x3"/>
  <p:notesSz cx="6858000" cy="9144000"/>
  <p:embeddedFontLst>
    <p:embeddedFont>
      <p:font typeface="Archivo Narrow" panose="020B0604020202020204" charset="0"/>
      <p:regular r:id="rId14"/>
      <p:bold r:id="rId15"/>
      <p:italic r:id="rId16"/>
      <p:boldItalic r:id="rId17"/>
    </p:embeddedFont>
    <p:embeddedFont>
      <p:font typeface="Book Antiqua" panose="02040602050305030304" pitchFamily="18" charset="0"/>
      <p:regular r:id="rId18"/>
      <p:bold r:id="rId19"/>
      <p:italic r:id="rId20"/>
      <p:boldItalic r:id="rId21"/>
    </p:embeddedFont>
    <p:embeddedFont>
      <p:font typeface="Georgia" panose="02040502050405020303" pitchFamily="18"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2075447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09" name="Shape 10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439183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15" name="Shape 11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1454074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3451497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A57B37C-DC4B-16D9-748D-04F135769564}"/>
            </a:ext>
          </a:extLst>
        </p:cNvPr>
        <p:cNvGrpSpPr/>
        <p:nvPr/>
      </p:nvGrpSpPr>
      <p:grpSpPr>
        <a:xfrm>
          <a:off x="0" y="0"/>
          <a:ext cx="0" cy="0"/>
          <a:chOff x="0" y="0"/>
          <a:chExt cx="0" cy="0"/>
        </a:xfrm>
      </p:grpSpPr>
      <p:sp>
        <p:nvSpPr>
          <p:cNvPr id="120" name="Shape 120">
            <a:extLst>
              <a:ext uri="{FF2B5EF4-FFF2-40B4-BE49-F238E27FC236}">
                <a16:creationId xmlns:a16="http://schemas.microsoft.com/office/drawing/2014/main" id="{40B7F994-EFCF-04D7-F6CC-8D30B3592467}"/>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21" name="Shape 121">
            <a:extLst>
              <a:ext uri="{FF2B5EF4-FFF2-40B4-BE49-F238E27FC236}">
                <a16:creationId xmlns:a16="http://schemas.microsoft.com/office/drawing/2014/main" id="{5B90FAEB-B886-0D8E-74FC-D6DF80B10D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2113658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93670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8C52917-3A05-4EA4-454A-0044F05BB93E}"/>
            </a:ext>
          </a:extLst>
        </p:cNvPr>
        <p:cNvGrpSpPr/>
        <p:nvPr/>
      </p:nvGrpSpPr>
      <p:grpSpPr>
        <a:xfrm>
          <a:off x="0" y="0"/>
          <a:ext cx="0" cy="0"/>
          <a:chOff x="0" y="0"/>
          <a:chExt cx="0" cy="0"/>
        </a:xfrm>
      </p:grpSpPr>
      <p:sp>
        <p:nvSpPr>
          <p:cNvPr id="120" name="Shape 120">
            <a:extLst>
              <a:ext uri="{FF2B5EF4-FFF2-40B4-BE49-F238E27FC236}">
                <a16:creationId xmlns:a16="http://schemas.microsoft.com/office/drawing/2014/main" id="{6580E69C-F1F4-14D4-6939-C1B9600178ED}"/>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21" name="Shape 121">
            <a:extLst>
              <a:ext uri="{FF2B5EF4-FFF2-40B4-BE49-F238E27FC236}">
                <a16:creationId xmlns:a16="http://schemas.microsoft.com/office/drawing/2014/main" id="{C909A11E-3159-2724-2123-F6540ED737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2645118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3562126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IN" dirty="0"/>
          </a:p>
        </p:txBody>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5731999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0" y="1886797"/>
            <a:ext cx="8520600" cy="1842900"/>
          </a:xfrm>
          <a:prstGeom prst="rect">
            <a:avLst/>
          </a:prstGeom>
        </p:spPr>
        <p:txBody>
          <a:bodyPr spcFirstLastPara="1" wrap="square" lIns="91425" tIns="91425" rIns="91425" bIns="91425" anchor="b"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13" name="Shape 13"/>
          <p:cNvSpPr/>
          <p:nvPr/>
        </p:nvSpPr>
        <p:spPr>
          <a:xfrm flipH="1">
            <a:off x="18" y="67300"/>
            <a:ext cx="9143982"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4" name="Shape 14"/>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dirty="0"/>
          </a:p>
        </p:txBody>
      </p:sp>
      <p:pic>
        <p:nvPicPr>
          <p:cNvPr id="15" name="Shape 15"/>
          <p:cNvPicPr preferRelativeResize="0"/>
          <p:nvPr/>
        </p:nvPicPr>
        <p:blipFill>
          <a:blip r:embed="rId2">
            <a:alphaModFix/>
          </a:blip>
          <a:stretch>
            <a:fillRect/>
          </a:stretch>
        </p:blipFill>
        <p:spPr>
          <a:xfrm>
            <a:off x="6090546" y="342390"/>
            <a:ext cx="2463805" cy="779367"/>
          </a:xfrm>
          <a:prstGeom prst="rect">
            <a:avLst/>
          </a:prstGeom>
          <a:noFill/>
          <a:ln>
            <a:noFill/>
          </a:ln>
        </p:spPr>
      </p:pic>
      <p:sp>
        <p:nvSpPr>
          <p:cNvPr id="16" name="Shape 16"/>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7" name="Shape 17"/>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dirty="0">
                <a:solidFill>
                  <a:srgbClr val="FFFFFF"/>
                </a:solidFill>
                <a:latin typeface="Georgia"/>
                <a:ea typeface="Georgia"/>
                <a:cs typeface="Georgia"/>
                <a:sym typeface="Georgia"/>
              </a:rPr>
              <a:t>MISSION</a:t>
            </a:r>
            <a:endParaRPr b="1" dirty="0">
              <a:solidFill>
                <a:srgbClr val="FFFFFF"/>
              </a:solidFill>
              <a:latin typeface="Georgia"/>
              <a:ea typeface="Georgia"/>
              <a:cs typeface="Georgia"/>
              <a:sym typeface="Georgia"/>
            </a:endParaRPr>
          </a:p>
          <a:p>
            <a:pPr marL="0" lvl="0" indent="0" algn="ctr" rtl="0">
              <a:spcBef>
                <a:spcPts val="0"/>
              </a:spcBef>
              <a:spcAft>
                <a:spcPts val="0"/>
              </a:spcAft>
              <a:buNone/>
            </a:pPr>
            <a:r>
              <a:rPr lang="en-GB" sz="1100" dirty="0">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dirty="0">
              <a:solidFill>
                <a:srgbClr val="FFFFFF"/>
              </a:solidFill>
              <a:latin typeface="Georgia"/>
              <a:ea typeface="Georgia"/>
              <a:cs typeface="Georgia"/>
              <a:sym typeface="Georgia"/>
            </a:endParaRPr>
          </a:p>
        </p:txBody>
      </p:sp>
      <p:sp>
        <p:nvSpPr>
          <p:cNvPr id="18" name="Shape 18"/>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solidFill>
                  <a:srgbClr val="FFFFFF"/>
                </a:solidFill>
                <a:latin typeface="Georgia"/>
                <a:ea typeface="Georgia"/>
                <a:cs typeface="Georgia"/>
                <a:sym typeface="Georgia"/>
              </a:rPr>
              <a:t>VISION</a:t>
            </a:r>
            <a:endParaRPr b="1" dirty="0">
              <a:solidFill>
                <a:srgbClr val="FFFFFF"/>
              </a:solidFill>
              <a:latin typeface="Georgia"/>
              <a:ea typeface="Georgia"/>
              <a:cs typeface="Georgia"/>
              <a:sym typeface="Georgia"/>
            </a:endParaRPr>
          </a:p>
          <a:p>
            <a:pPr marL="0" lvl="0" indent="0" algn="ctr" rtl="0">
              <a:spcBef>
                <a:spcPts val="0"/>
              </a:spcBef>
              <a:spcAft>
                <a:spcPts val="0"/>
              </a:spcAft>
              <a:buNone/>
            </a:pPr>
            <a:r>
              <a:rPr lang="en-GB" sz="1100" dirty="0">
                <a:solidFill>
                  <a:srgbClr val="FFFFFF"/>
                </a:solidFill>
                <a:latin typeface="Georgia"/>
                <a:ea typeface="Georgia"/>
                <a:cs typeface="Georgia"/>
                <a:sym typeface="Georgia"/>
              </a:rPr>
              <a:t>Excellence and Service</a:t>
            </a:r>
            <a:endParaRPr sz="1100" dirty="0">
              <a:solidFill>
                <a:srgbClr val="FFFFFF"/>
              </a:solidFill>
              <a:latin typeface="Georgia"/>
              <a:ea typeface="Georgia"/>
              <a:cs typeface="Georgia"/>
              <a:sym typeface="Georgia"/>
            </a:endParaRPr>
          </a:p>
        </p:txBody>
      </p:sp>
      <p:sp>
        <p:nvSpPr>
          <p:cNvPr id="19" name="Shape 19"/>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dirty="0">
                <a:solidFill>
                  <a:srgbClr val="FFFFFF"/>
                </a:solidFill>
                <a:latin typeface="Georgia"/>
                <a:ea typeface="Georgia"/>
                <a:cs typeface="Georgia"/>
                <a:sym typeface="Georgia"/>
              </a:rPr>
              <a:t>CORE  VALUES</a:t>
            </a:r>
            <a:endParaRPr b="1" dirty="0">
              <a:solidFill>
                <a:srgbClr val="FFFFFF"/>
              </a:solidFill>
              <a:latin typeface="Georgia"/>
              <a:ea typeface="Georgia"/>
              <a:cs typeface="Georgia"/>
              <a:sym typeface="Georgia"/>
            </a:endParaRPr>
          </a:p>
          <a:p>
            <a:pPr marL="0" lvl="0" indent="0" algn="ctr" rtl="0">
              <a:spcBef>
                <a:spcPts val="0"/>
              </a:spcBef>
              <a:spcAft>
                <a:spcPts val="0"/>
              </a:spcAft>
              <a:buNone/>
            </a:pPr>
            <a:r>
              <a:rPr lang="en-GB" sz="1100" dirty="0">
                <a:solidFill>
                  <a:srgbClr val="FFFFFF"/>
                </a:solidFill>
                <a:latin typeface="Georgia"/>
                <a:ea typeface="Georgia"/>
                <a:cs typeface="Georgia"/>
                <a:sym typeface="Georgia"/>
              </a:rPr>
              <a:t>Faith in God |  Moral Uprightness</a:t>
            </a:r>
            <a:br>
              <a:rPr lang="en-GB" sz="1100" dirty="0">
                <a:solidFill>
                  <a:srgbClr val="FFFFFF"/>
                </a:solidFill>
                <a:latin typeface="Georgia"/>
                <a:ea typeface="Georgia"/>
                <a:cs typeface="Georgia"/>
                <a:sym typeface="Georgia"/>
              </a:rPr>
            </a:br>
            <a:r>
              <a:rPr lang="en-GB" sz="1100" dirty="0">
                <a:solidFill>
                  <a:srgbClr val="FFFFFF"/>
                </a:solidFill>
                <a:latin typeface="Georgia"/>
                <a:ea typeface="Georgia"/>
                <a:cs typeface="Georgia"/>
                <a:sym typeface="Georgia"/>
              </a:rPr>
              <a:t> Love of Fellow Beings   </a:t>
            </a:r>
            <a:br>
              <a:rPr lang="en-GB" sz="1100" dirty="0">
                <a:solidFill>
                  <a:srgbClr val="FFFFFF"/>
                </a:solidFill>
                <a:latin typeface="Georgia"/>
                <a:ea typeface="Georgia"/>
                <a:cs typeface="Georgia"/>
                <a:sym typeface="Georgia"/>
              </a:rPr>
            </a:br>
            <a:r>
              <a:rPr lang="en-GB" sz="1100" dirty="0">
                <a:solidFill>
                  <a:srgbClr val="FFFFFF"/>
                </a:solidFill>
                <a:latin typeface="Georgia"/>
                <a:ea typeface="Georgia"/>
                <a:cs typeface="Georgia"/>
                <a:sym typeface="Georgia"/>
              </a:rPr>
              <a:t>Social Responsibility | Pursuit of Excellence</a:t>
            </a:r>
            <a:endParaRPr sz="1100" dirty="0">
              <a:solidFill>
                <a:srgbClr val="FFFFFF"/>
              </a:solidFill>
              <a:latin typeface="Georgia"/>
              <a:ea typeface="Georgia"/>
              <a:cs typeface="Georgia"/>
              <a:sym typeface="Georg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Shape 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23" name="Shape 23"/>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24" name="Shape 24"/>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25" name="Shape 2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26" name="Shape 26"/>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27" name="Shape 27"/>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31" name="Shape 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32" name="Shape 3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33" name="Shape 3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34" name="Shape 3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35" name="Shape 3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36" name="Shape 3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Shape 39"/>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0" name="Shape 40"/>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1" name="Shape 4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42" name="Shape 4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43" name="Shape 4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44" name="Shape 4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45" name="Shape 4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46" name="Shape 4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Shape 4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50" name="Shape 50"/>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51" name="Shape 51"/>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52" name="Shape 5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53" name="Shape 5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54" name="Shape 5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58" name="Shape 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59" name="Shape 5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0" name="Shape 6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61" name="Shape 6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2" name="Shape 6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3" name="Shape 6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6" name="Shape 6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67" name="Shape 6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8" name="Shape 6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69" name="Shape 6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0" name="Shape 7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1" name="Shape 7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Shape 73"/>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4" name="Shape 74"/>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77" name="Shape 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78" name="Shape 7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9" name="Shape 7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80" name="Shape 8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1" name="Shape 8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2" name="Shape 8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Shape 84"/>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200"/>
              <a:buNone/>
              <a:defRPr/>
            </a:lvl1pPr>
          </a:lstStyle>
          <a:p>
            <a:endParaRPr/>
          </a:p>
        </p:txBody>
      </p:sp>
      <p:sp>
        <p:nvSpPr>
          <p:cNvPr id="85" name="Shape 8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86" name="Shape 8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7" name="Shape 8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88" name="Shape 8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9" name="Shape 8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0" name="Shape 9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1474833"/>
            <a:ext cx="8520600" cy="26181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4" name="Shape 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95" name="Shape 9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6" name="Shape 9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97" name="Shape 9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8" name="Shape 9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9" name="Shape 9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Shape 10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dirty="0"/>
          </a:p>
        </p:txBody>
      </p:sp>
      <p:sp>
        <p:nvSpPr>
          <p:cNvPr id="102" name="Shape 10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03" name="Shape 10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104" name="Shape 10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05" name="Shape 10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06" name="Shape 10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Archivo Narrow"/>
              <a:buNone/>
              <a:defRPr sz="2800" b="1">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68300">
              <a:lnSpc>
                <a:spcPct val="100000"/>
              </a:lnSpc>
              <a:spcBef>
                <a:spcPts val="0"/>
              </a:spcBef>
              <a:spcAft>
                <a:spcPts val="0"/>
              </a:spcAft>
              <a:buSzPts val="2200"/>
              <a:buFont typeface="Archivo Narrow"/>
              <a:buChar char="●"/>
              <a:defRPr sz="2200">
                <a:latin typeface="Archivo Narrow"/>
                <a:ea typeface="Archivo Narrow"/>
                <a:cs typeface="Archivo Narrow"/>
                <a:sym typeface="Archivo Narrow"/>
              </a:defRPr>
            </a:lvl1pPr>
            <a:lvl2pPr marL="914400" lvl="1"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2pPr>
            <a:lvl3pPr marL="1371600" lvl="2"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3pPr>
            <a:lvl4pPr marL="1828800" lvl="3"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4pPr>
            <a:lvl5pPr marL="2286000" lvl="4"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5pPr>
            <a:lvl6pPr marL="2743200" lvl="5"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6pPr>
            <a:lvl7pPr marL="3200400" lvl="6"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7pPr>
            <a:lvl8pPr marL="3657600" lvl="7"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8pPr>
            <a:lvl9pPr marL="4114800" lvl="8" indent="-342900">
              <a:lnSpc>
                <a:spcPct val="100000"/>
              </a:lnSpc>
              <a:spcBef>
                <a:spcPts val="600"/>
              </a:spcBef>
              <a:spcAft>
                <a:spcPts val="600"/>
              </a:spcAft>
              <a:buSzPts val="1800"/>
              <a:buFont typeface="Archivo Narrow"/>
              <a:buChar char="■"/>
              <a:defRPr sz="1800">
                <a:latin typeface="Archivo Narrow"/>
                <a:ea typeface="Archivo Narrow"/>
                <a:cs typeface="Archivo Narrow"/>
                <a:sym typeface="Archivo Narrow"/>
              </a:defRPr>
            </a:lvl9pPr>
          </a:lstStyle>
          <a:p>
            <a:endParaRPr/>
          </a:p>
        </p:txBody>
      </p:sp>
      <p:sp>
        <p:nvSpPr>
          <p:cNvPr id="8" name="Shape 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ctrTitle"/>
          </p:nvPr>
        </p:nvSpPr>
        <p:spPr>
          <a:xfrm>
            <a:off x="385591" y="1857855"/>
            <a:ext cx="8520600" cy="1714800"/>
          </a:xfrm>
          <a:prstGeom prst="rect">
            <a:avLst/>
          </a:prstGeom>
        </p:spPr>
        <p:txBody>
          <a:bodyPr spcFirstLastPara="1" wrap="square" lIns="91425" tIns="91425" rIns="91425" bIns="91425" anchor="b" anchorCtr="0">
            <a:noAutofit/>
          </a:bodyPr>
          <a:lstStyle/>
          <a:p>
            <a:r>
              <a:rPr lang="en-US" dirty="0">
                <a:latin typeface="Times New Roman" panose="02020603050405020304" pitchFamily="18" charset="0"/>
                <a:cs typeface="Times New Roman" panose="02020603050405020304" pitchFamily="18" charset="0"/>
              </a:rPr>
              <a:t>C</a:t>
            </a:r>
            <a:r>
              <a:rPr lang="en-IN" dirty="0">
                <a:latin typeface="Times New Roman" panose="02020603050405020304" pitchFamily="18" charset="0"/>
                <a:cs typeface="Times New Roman" panose="02020603050405020304" pitchFamily="18" charset="0"/>
              </a:rPr>
              <a:t>hrist Cabin Finder</a:t>
            </a:r>
            <a:br>
              <a:rPr lang="en-IN" dirty="0">
                <a:latin typeface="Times New Roman" panose="02020603050405020304" pitchFamily="18" charset="0"/>
                <a:cs typeface="Times New Roman" panose="02020603050405020304" pitchFamily="18" charset="0"/>
              </a:rPr>
            </a:br>
            <a:r>
              <a:rPr lang="en-US" sz="2000" dirty="0"/>
              <a:t>Real-Time Faculty Location &amp; Availability Assistant</a:t>
            </a:r>
            <a:br>
              <a:rPr lang="en-US" dirty="0"/>
            </a:br>
            <a:endParaRPr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352800" y="4073931"/>
            <a:ext cx="5079999" cy="1785104"/>
          </a:xfrm>
          <a:prstGeom prst="rect">
            <a:avLst/>
          </a:prstGeom>
          <a:noFill/>
        </p:spPr>
        <p:txBody>
          <a:bodyPr wrap="square" rtlCol="0">
            <a:spAutoFit/>
          </a:bodyPr>
          <a:lstStyle/>
          <a:p>
            <a:r>
              <a:rPr lang="en-GB" sz="1800" b="1" dirty="0">
                <a:latin typeface="Times New Roman" panose="02020603050405020304" pitchFamily="18" charset="0"/>
                <a:cs typeface="Times New Roman" panose="02020603050405020304" pitchFamily="18" charset="0"/>
              </a:rPr>
              <a:t>Student Details: Swanim Pradhan 2362373</a:t>
            </a:r>
          </a:p>
          <a:p>
            <a:r>
              <a:rPr lang="en-GB" sz="1800" b="1" dirty="0">
                <a:latin typeface="Times New Roman" panose="02020603050405020304" pitchFamily="18" charset="0"/>
                <a:cs typeface="Times New Roman" panose="02020603050405020304" pitchFamily="18" charset="0"/>
              </a:rPr>
              <a:t>	             Stephen Akash J 2362368</a:t>
            </a:r>
          </a:p>
          <a:p>
            <a:r>
              <a:rPr lang="en-GB" sz="1800" b="1" dirty="0">
                <a:latin typeface="Times New Roman" panose="02020603050405020304" pitchFamily="18" charset="0"/>
                <a:cs typeface="Times New Roman" panose="02020603050405020304" pitchFamily="18" charset="0"/>
              </a:rPr>
              <a:t>	             Riya Bajaj 23623	</a:t>
            </a:r>
          </a:p>
          <a:p>
            <a:endParaRPr lang="en-GB" sz="1800" b="1" dirty="0">
              <a:latin typeface="Times New Roman" panose="02020603050405020304" pitchFamily="18" charset="0"/>
              <a:cs typeface="Times New Roman" panose="02020603050405020304" pitchFamily="18" charset="0"/>
            </a:endParaRPr>
          </a:p>
          <a:p>
            <a:r>
              <a:rPr lang="en-GB" sz="1800" b="1" dirty="0">
                <a:latin typeface="Times New Roman" panose="02020603050405020304" pitchFamily="18" charset="0"/>
                <a:cs typeface="Times New Roman" panose="02020603050405020304" pitchFamily="18" charset="0"/>
              </a:rPr>
              <a:t>Guided By: </a:t>
            </a:r>
            <a:r>
              <a:rPr lang="en-GB" sz="2000" b="1" dirty="0">
                <a:latin typeface="Times New Roman" panose="02020603050405020304" pitchFamily="18" charset="0"/>
                <a:cs typeface="Times New Roman" panose="02020603050405020304" pitchFamily="18" charset="0"/>
              </a:rPr>
              <a:t>Sandeep Kumar</a:t>
            </a:r>
            <a:endParaRPr lang="en-GB"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Agenda</a:t>
            </a:r>
            <a:endParaRPr dirty="0">
              <a:latin typeface="Times New Roman" panose="02020603050405020304" pitchFamily="18" charset="0"/>
              <a:cs typeface="Times New Roman" panose="02020603050405020304" pitchFamily="18" charset="0"/>
            </a:endParaRPr>
          </a:p>
        </p:txBody>
      </p:sp>
      <p:sp>
        <p:nvSpPr>
          <p:cNvPr id="118" name="Shape 11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p>
            <a:pPr marL="342900" indent="-342900">
              <a:spcAft>
                <a:spcPts val="600"/>
              </a:spcAft>
            </a:pPr>
            <a:endParaRPr lang="en-GB" sz="2400" dirty="0">
              <a:latin typeface="Times New Roman" panose="02020603050405020304" pitchFamily="18" charset="0"/>
              <a:cs typeface="Times New Roman" panose="02020603050405020304" pitchFamily="18" charset="0"/>
            </a:endParaRPr>
          </a:p>
          <a:p>
            <a:pPr marL="342900" indent="-342900">
              <a:spcAft>
                <a:spcPts val="600"/>
              </a:spcAft>
            </a:pPr>
            <a:r>
              <a:rPr lang="en-GB" sz="2400" dirty="0">
                <a:latin typeface="Times New Roman" panose="02020603050405020304" pitchFamily="18" charset="0"/>
                <a:cs typeface="Times New Roman" panose="02020603050405020304" pitchFamily="18" charset="0"/>
              </a:rPr>
              <a:t>Abstract</a:t>
            </a:r>
          </a:p>
          <a:p>
            <a:pPr marL="342900" indent="-342900">
              <a:spcAft>
                <a:spcPts val="600"/>
              </a:spcAft>
            </a:pPr>
            <a:r>
              <a:rPr lang="en-GB" sz="2400" dirty="0">
                <a:latin typeface="Times New Roman" panose="02020603050405020304" pitchFamily="18" charset="0"/>
                <a:cs typeface="Times New Roman" panose="02020603050405020304" pitchFamily="18" charset="0"/>
              </a:rPr>
              <a:t>Problem Statement and Objectives</a:t>
            </a:r>
          </a:p>
          <a:p>
            <a:pPr marL="342900" indent="-342900">
              <a:spcAft>
                <a:spcPts val="600"/>
              </a:spcAft>
            </a:pPr>
            <a:r>
              <a:rPr lang="en-GB" sz="2400" dirty="0">
                <a:latin typeface="Times New Roman" panose="02020603050405020304" pitchFamily="18" charset="0"/>
                <a:cs typeface="Times New Roman" panose="02020603050405020304" pitchFamily="18" charset="0"/>
              </a:rPr>
              <a:t>Literature Review/ Background Study</a:t>
            </a:r>
          </a:p>
          <a:p>
            <a:pPr marL="342900" indent="-342900">
              <a:spcAft>
                <a:spcPts val="600"/>
              </a:spcAft>
            </a:pPr>
            <a:r>
              <a:rPr lang="en-GB" sz="2400" dirty="0">
                <a:latin typeface="Times New Roman" panose="02020603050405020304" pitchFamily="18" charset="0"/>
                <a:cs typeface="Times New Roman" panose="02020603050405020304" pitchFamily="18" charset="0"/>
              </a:rPr>
              <a:t>Hardware and Software Requirements</a:t>
            </a:r>
          </a:p>
          <a:p>
            <a:pPr marL="342900" indent="-342900">
              <a:spcAft>
                <a:spcPts val="600"/>
              </a:spcAft>
            </a:pPr>
            <a:r>
              <a:rPr lang="en-GB" sz="2400" dirty="0">
                <a:latin typeface="Times New Roman" panose="02020603050405020304" pitchFamily="18" charset="0"/>
                <a:cs typeface="Times New Roman" panose="02020603050405020304" pitchFamily="18" charset="0"/>
              </a:rPr>
              <a:t>System Architecture</a:t>
            </a:r>
          </a:p>
          <a:p>
            <a:pPr marL="342900" indent="-342900">
              <a:spcAft>
                <a:spcPts val="600"/>
              </a:spcAft>
            </a:pPr>
            <a:r>
              <a:rPr lang="en-GB" sz="2400" dirty="0">
                <a:latin typeface="Times New Roman" panose="02020603050405020304" pitchFamily="18" charset="0"/>
                <a:cs typeface="Times New Roman" panose="02020603050405020304" pitchFamily="18" charset="0"/>
              </a:rPr>
              <a:t>Timeline</a:t>
            </a:r>
          </a:p>
          <a:p>
            <a:pPr marL="342900" indent="-342900">
              <a:spcAft>
                <a:spcPts val="600"/>
              </a:spcAft>
            </a:pPr>
            <a:r>
              <a:rPr lang="en-GB" sz="2400" dirty="0">
                <a:latin typeface="Times New Roman" panose="02020603050405020304" pitchFamily="18" charset="0"/>
                <a:cs typeface="Times New Roman" panose="02020603050405020304" pitchFamily="18" charset="0"/>
              </a:rPr>
              <a:t>References</a:t>
            </a:r>
          </a:p>
          <a:p>
            <a:pPr marL="0" lvl="0" indent="0">
              <a:spcBef>
                <a:spcPts val="0"/>
              </a:spcBef>
              <a:spcAft>
                <a:spcPts val="60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Text Placeholder 2"/>
          <p:cNvSpPr>
            <a:spLocks noGrp="1"/>
          </p:cNvSpPr>
          <p:nvPr>
            <p:ph type="body" idx="1"/>
          </p:nvPr>
        </p:nvSpPr>
        <p:spPr>
          <a:xfrm>
            <a:off x="155850" y="1356867"/>
            <a:ext cx="8590986" cy="4758184"/>
          </a:xfrm>
        </p:spPr>
        <p:txBody>
          <a:bodyPr/>
          <a:lstStyle/>
          <a:p>
            <a:pPr marL="88900" lvl="0" indent="0" algn="just">
              <a:buNone/>
            </a:pPr>
            <a:r>
              <a:rPr lang="en-US" dirty="0">
                <a:latin typeface="Times New Roman" panose="02020603050405020304" pitchFamily="18" charset="0"/>
                <a:cs typeface="Times New Roman" panose="02020603050405020304" pitchFamily="18" charset="0"/>
              </a:rPr>
              <a:t>ChristSmart Cabin Finder is a smart campus web application designed to help students quickly locate faculty cabins and check real-time faculty availability. The system provides accurate status updates such as Available, In Class, Meeting, or Away, reducing the time students spend searching across campus. It also supports intelligent search and automated schedule-based availability updates to improve communication and coordination between students and faculty. The proposed solution aims to create a more efficient, connected, and student-friendly smart campus environment.</a:t>
            </a:r>
          </a:p>
          <a:p>
            <a:pPr marL="88900" lvl="0" indent="0" algn="just">
              <a:buNone/>
            </a:pPr>
            <a:endParaRPr lang="en-US" dirty="0">
              <a:latin typeface="Times New Roman" panose="02020603050405020304" pitchFamily="18" charset="0"/>
              <a:cs typeface="Times New Roman" panose="02020603050405020304" pitchFamily="18" charset="0"/>
            </a:endParaRPr>
          </a:p>
          <a:p>
            <a:pPr marL="88900" lvl="0" indent="0" algn="just">
              <a:buNone/>
            </a:pPr>
            <a:r>
              <a:rPr lang="en-US" b="1" dirty="0">
                <a:latin typeface="Times New Roman" panose="02020603050405020304" pitchFamily="18" charset="0"/>
                <a:cs typeface="Times New Roman" panose="02020603050405020304" pitchFamily="18" charset="0"/>
              </a:rPr>
              <a:t>Index Terms—</a:t>
            </a:r>
            <a:r>
              <a:rPr lang="en-US" dirty="0">
                <a:latin typeface="Times New Roman" panose="02020603050405020304" pitchFamily="18" charset="0"/>
                <a:cs typeface="Times New Roman" panose="02020603050405020304" pitchFamily="18" charset="0"/>
              </a:rPr>
              <a:t> Smart Campus, Real-time Tracking, Automated Scheduling, Student-Faculty Coordination, Campus Ecosystem.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118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59A18-00BA-BC90-F245-E917F9A40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3CC55-8553-B91F-40F3-03A579BB304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 </a:t>
            </a:r>
          </a:p>
        </p:txBody>
      </p:sp>
      <p:sp>
        <p:nvSpPr>
          <p:cNvPr id="6" name="Shape 118">
            <a:extLst>
              <a:ext uri="{FF2B5EF4-FFF2-40B4-BE49-F238E27FC236}">
                <a16:creationId xmlns:a16="http://schemas.microsoft.com/office/drawing/2014/main" id="{35341402-AC18-D387-C67E-EB1CB46CF715}"/>
              </a:ext>
            </a:extLst>
          </p:cNvPr>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p>
            <a:pPr marL="0" lvl="0" indent="0">
              <a:spcAft>
                <a:spcPts val="600"/>
              </a:spcAft>
              <a:buNone/>
            </a:pPr>
            <a:r>
              <a:rPr lang="en-US" dirty="0">
                <a:latin typeface="Times New Roman" panose="02020603050405020304" pitchFamily="18" charset="0"/>
                <a:cs typeface="Times New Roman" panose="02020603050405020304" pitchFamily="18" charset="0"/>
              </a:rPr>
              <a:t>Students often spend significant time searching for faculty cabins and checking whether faculty members are available. Existing methods such as static timetables, notice boards, and manual inquiries do not provide real-time availability information and are frequently affected by schedule changes, meetings, viva sessions, and other academic activities. This leads to delays in communication, unnecessary movement across campus, and an inefficient student experience.</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757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6" name="Shape 11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p>
            <a:pPr marL="88900" indent="0">
              <a:buNone/>
            </a:pPr>
            <a:r>
              <a:rPr lang="en-US" b="1" dirty="0">
                <a:latin typeface="Times New Roman" panose="02020603050405020304" pitchFamily="18" charset="0"/>
                <a:cs typeface="Times New Roman" panose="02020603050405020304" pitchFamily="18" charset="0"/>
              </a:rPr>
              <a:t>Primary Objective</a:t>
            </a:r>
          </a:p>
          <a:p>
            <a:pPr marL="88900" indent="0">
              <a:buNone/>
            </a:pPr>
            <a:r>
              <a:rPr lang="en-US" dirty="0">
                <a:latin typeface="Times New Roman" panose="02020603050405020304" pitchFamily="18" charset="0"/>
                <a:cs typeface="Times New Roman" panose="02020603050405020304" pitchFamily="18" charset="0"/>
              </a:rPr>
              <a:t>Develop a smart campus web application that provides real-time faculty cabin location and availability information.</a:t>
            </a:r>
          </a:p>
          <a:p>
            <a:endParaRPr lang="en-US" dirty="0">
              <a:latin typeface="Times New Roman" panose="02020603050405020304" pitchFamily="18" charset="0"/>
              <a:cs typeface="Times New Roman" panose="02020603050405020304" pitchFamily="18" charset="0"/>
            </a:endParaRPr>
          </a:p>
          <a:p>
            <a:pPr marL="88900" indent="0">
              <a:buNone/>
            </a:pPr>
            <a:r>
              <a:rPr lang="en-US" b="1" dirty="0">
                <a:latin typeface="Times New Roman" panose="02020603050405020304" pitchFamily="18" charset="0"/>
                <a:cs typeface="Times New Roman" panose="02020603050405020304" pitchFamily="18" charset="0"/>
              </a:rPr>
              <a:t>Specific Objectives</a:t>
            </a:r>
          </a:p>
          <a:p>
            <a:pPr marL="889000" lvl="1">
              <a:buFont typeface="+mj-lt"/>
              <a:buAutoNum type="arabicPeriod"/>
            </a:pPr>
            <a:r>
              <a:rPr lang="en-US" dirty="0">
                <a:latin typeface="Times New Roman" panose="02020603050405020304" pitchFamily="18" charset="0"/>
                <a:cs typeface="Times New Roman" panose="02020603050405020304" pitchFamily="18" charset="0"/>
              </a:rPr>
              <a:t>Enable students to search for faculty members easily.</a:t>
            </a:r>
          </a:p>
          <a:p>
            <a:pPr marL="889000" lvl="1">
              <a:buFont typeface="+mj-lt"/>
              <a:buAutoNum type="arabicPeriod"/>
            </a:pPr>
            <a:r>
              <a:rPr lang="en-US" dirty="0">
                <a:latin typeface="Times New Roman" panose="02020603050405020304" pitchFamily="18" charset="0"/>
                <a:cs typeface="Times New Roman" panose="02020603050405020304" pitchFamily="18" charset="0"/>
              </a:rPr>
              <a:t>Display live faculty status (Available, In Class, Meeting, Away, etc.).</a:t>
            </a:r>
          </a:p>
          <a:p>
            <a:pPr marL="889000" lvl="1">
              <a:buFont typeface="+mj-lt"/>
              <a:buAutoNum type="arabicPeriod"/>
            </a:pPr>
            <a:r>
              <a:rPr lang="en-US" dirty="0">
                <a:latin typeface="Times New Roman" panose="02020603050405020304" pitchFamily="18" charset="0"/>
                <a:cs typeface="Times New Roman" panose="02020603050405020304" pitchFamily="18" charset="0"/>
              </a:rPr>
              <a:t>Support intelligent search for partial or misspelled faculty names.</a:t>
            </a:r>
          </a:p>
          <a:p>
            <a:pPr marL="889000" lvl="1">
              <a:buFont typeface="+mj-lt"/>
              <a:buAutoNum type="arabicPeriod"/>
            </a:pPr>
            <a:r>
              <a:rPr lang="en-US" dirty="0">
                <a:latin typeface="Times New Roman" panose="02020603050405020304" pitchFamily="18" charset="0"/>
                <a:cs typeface="Times New Roman" panose="02020603050405020304" pitchFamily="18" charset="0"/>
              </a:rPr>
              <a:t>Automate schedule-based availability updates.</a:t>
            </a:r>
          </a:p>
          <a:p>
            <a:pPr marL="889000" lvl="1">
              <a:buFont typeface="+mj-lt"/>
              <a:buAutoNum type="arabicPeriod"/>
            </a:pPr>
            <a:r>
              <a:rPr lang="en-US" dirty="0">
                <a:latin typeface="Times New Roman" panose="02020603050405020304" pitchFamily="18" charset="0"/>
                <a:cs typeface="Times New Roman" panose="02020603050405020304" pitchFamily="18" charset="0"/>
              </a:rPr>
              <a:t>Provide faculty with a simple interface to manage and approve status notices.</a:t>
            </a:r>
          </a:p>
        </p:txBody>
      </p:sp>
    </p:spTree>
    <p:extLst>
      <p:ext uri="{BB962C8B-B14F-4D97-AF65-F5344CB8AC3E}">
        <p14:creationId xmlns:p14="http://schemas.microsoft.com/office/powerpoint/2010/main" val="1003932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380931"/>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Review / Background Study</a:t>
            </a:r>
            <a:endParaRPr dirty="0">
              <a:latin typeface="Times New Roman" panose="02020603050405020304" pitchFamily="18" charset="0"/>
              <a:cs typeface="Times New Roman" panose="02020603050405020304" pitchFamily="18" charset="0"/>
            </a:endParaRPr>
          </a:p>
        </p:txBody>
      </p:sp>
      <p:sp>
        <p:nvSpPr>
          <p:cNvPr id="124" name="Shape 124"/>
          <p:cNvSpPr txBox="1">
            <a:spLocks noGrp="1"/>
          </p:cNvSpPr>
          <p:nvPr>
            <p:ph type="body" idx="1"/>
          </p:nvPr>
        </p:nvSpPr>
        <p:spPr>
          <a:xfrm>
            <a:off x="311700" y="1054499"/>
            <a:ext cx="8060775" cy="4988462"/>
          </a:xfrm>
          <a:prstGeom prst="rect">
            <a:avLst/>
          </a:prstGeom>
        </p:spPr>
        <p:txBody>
          <a:bodyPr spcFirstLastPara="1" wrap="square" lIns="91425" tIns="91425" rIns="91425" bIns="91425" anchor="t" anchorCtr="0">
            <a:noAutofit/>
          </a:bodyPr>
          <a:lstStyle/>
          <a:p>
            <a:pPr marL="88900" indent="0">
              <a:buNone/>
            </a:pPr>
            <a:r>
              <a:rPr lang="en-US" sz="1800" b="1" dirty="0">
                <a:latin typeface="Times New Roman" panose="02020603050405020304" pitchFamily="18" charset="0"/>
                <a:cs typeface="Times New Roman" panose="02020603050405020304" pitchFamily="18" charset="0"/>
              </a:rPr>
              <a:t>Existing</a:t>
            </a:r>
            <a:r>
              <a:rPr lang="en-US" sz="1600" b="1" dirty="0">
                <a:latin typeface="Times New Roman" panose="02020603050405020304" pitchFamily="18" charset="0"/>
                <a:cs typeface="Times New Roman" panose="02020603050405020304" pitchFamily="18" charset="0"/>
              </a:rPr>
              <a:t> Systems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Static notice boards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Department timetables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Manual cabin inquiries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Basic campus chatbot systems</a:t>
            </a:r>
          </a:p>
          <a:p>
            <a:pPr marL="717550" lvl="1" indent="-1714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88900" indent="0">
              <a:buNone/>
            </a:pPr>
            <a:r>
              <a:rPr lang="en-US" sz="1800" b="1" dirty="0">
                <a:latin typeface="Times New Roman" panose="02020603050405020304" pitchFamily="18" charset="0"/>
                <a:cs typeface="Times New Roman" panose="02020603050405020304" pitchFamily="18" charset="0"/>
              </a:rPr>
              <a:t>Limitations</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 real-time faculty availability</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Schedule changes are not updated instantly</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Exact faculty name is often required</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Notices must be updated manually</a:t>
            </a:r>
          </a:p>
          <a:p>
            <a:pPr marL="8318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88900" indent="0">
              <a:buNone/>
            </a:pPr>
            <a:r>
              <a:rPr lang="en-US" sz="1800" b="1" dirty="0">
                <a:latin typeface="Times New Roman" panose="02020603050405020304" pitchFamily="18" charset="0"/>
                <a:cs typeface="Times New Roman" panose="02020603050405020304" pitchFamily="18" charset="0"/>
              </a:rPr>
              <a:t>Research Gap</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 single platform combines:</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Real-time availability</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Intelligent faculty search</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Automated schedule updates</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Context-aware notice suggestions</a:t>
            </a:r>
          </a:p>
          <a:p>
            <a:pPr marL="546100" lvl="1" indent="0">
              <a:buNone/>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903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D748B4D-896E-FD7F-FF34-CAEDB1D9DA33}"/>
            </a:ext>
          </a:extLst>
        </p:cNvPr>
        <p:cNvGrpSpPr/>
        <p:nvPr/>
      </p:nvGrpSpPr>
      <p:grpSpPr>
        <a:xfrm>
          <a:off x="0" y="0"/>
          <a:ext cx="0" cy="0"/>
          <a:chOff x="0" y="0"/>
          <a:chExt cx="0" cy="0"/>
        </a:xfrm>
      </p:grpSpPr>
      <p:sp>
        <p:nvSpPr>
          <p:cNvPr id="123" name="Shape 123">
            <a:extLst>
              <a:ext uri="{FF2B5EF4-FFF2-40B4-BE49-F238E27FC236}">
                <a16:creationId xmlns:a16="http://schemas.microsoft.com/office/drawing/2014/main" id="{5C65ACA5-2B1D-4FB3-28BE-AA15A16ABE7A}"/>
              </a:ext>
            </a:extLst>
          </p:cNvPr>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Review / Background Study</a:t>
            </a:r>
            <a:endParaRPr dirty="0">
              <a:latin typeface="Times New Roman" panose="02020603050405020304" pitchFamily="18" charset="0"/>
              <a:cs typeface="Times New Roman" panose="02020603050405020304" pitchFamily="18" charset="0"/>
            </a:endParaRPr>
          </a:p>
        </p:txBody>
      </p:sp>
      <p:sp>
        <p:nvSpPr>
          <p:cNvPr id="124" name="Shape 124">
            <a:extLst>
              <a:ext uri="{FF2B5EF4-FFF2-40B4-BE49-F238E27FC236}">
                <a16:creationId xmlns:a16="http://schemas.microsoft.com/office/drawing/2014/main" id="{E68F2825-C731-6992-0A61-D3FC93B45C83}"/>
              </a:ext>
            </a:extLst>
          </p:cNvPr>
          <p:cNvSpPr txBox="1">
            <a:spLocks noGrp="1"/>
          </p:cNvSpPr>
          <p:nvPr>
            <p:ph type="body" idx="1"/>
          </p:nvPr>
        </p:nvSpPr>
        <p:spPr>
          <a:xfrm>
            <a:off x="80790" y="1863407"/>
            <a:ext cx="3050335" cy="4988462"/>
          </a:xfrm>
          <a:prstGeom prst="rect">
            <a:avLst/>
          </a:prstGeom>
        </p:spPr>
        <p:txBody>
          <a:bodyPr spcFirstLastPara="1" wrap="square" lIns="91425" tIns="91425" rIns="91425" bIns="91425" anchor="t" anchorCtr="0">
            <a:noAutofit/>
          </a:bodyPr>
          <a:lstStyle/>
          <a:p>
            <a:pPr marL="88900" indent="0" algn="ctr">
              <a:buNone/>
            </a:pPr>
            <a:r>
              <a:rPr lang="en-US" sz="1800" b="1" dirty="0">
                <a:latin typeface="Times New Roman" panose="02020603050405020304" pitchFamily="18" charset="0"/>
                <a:cs typeface="Times New Roman" panose="02020603050405020304" pitchFamily="18" charset="0"/>
              </a:rPr>
              <a:t>Existing</a:t>
            </a:r>
            <a:r>
              <a:rPr lang="en-US" sz="1600" b="1" dirty="0">
                <a:latin typeface="Times New Roman" panose="02020603050405020304" pitchFamily="18" charset="0"/>
                <a:cs typeface="Times New Roman" panose="02020603050405020304" pitchFamily="18" charset="0"/>
              </a:rPr>
              <a:t> Systems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Static notice boards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Department timetables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Manual cabin inquiries</a:t>
            </a:r>
          </a:p>
          <a:p>
            <a:pPr marL="717550" lvl="1"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Basic campus chatbot systems</a:t>
            </a:r>
          </a:p>
          <a:p>
            <a:pPr marL="546100" lvl="1" indent="0">
              <a:buNone/>
            </a:pPr>
            <a:endParaRPr lang="en-US" sz="1400" dirty="0">
              <a:latin typeface="Times New Roman" panose="02020603050405020304" pitchFamily="18" charset="0"/>
              <a:cs typeface="Times New Roman" panose="02020603050405020304" pitchFamily="18" charset="0"/>
            </a:endParaRPr>
          </a:p>
        </p:txBody>
      </p:sp>
      <p:sp>
        <p:nvSpPr>
          <p:cNvPr id="2" name="Shape 124">
            <a:extLst>
              <a:ext uri="{FF2B5EF4-FFF2-40B4-BE49-F238E27FC236}">
                <a16:creationId xmlns:a16="http://schemas.microsoft.com/office/drawing/2014/main" id="{0E93CF25-86B9-0030-0D0C-78B84B4EE2AE}"/>
              </a:ext>
            </a:extLst>
          </p:cNvPr>
          <p:cNvSpPr txBox="1">
            <a:spLocks/>
          </p:cNvSpPr>
          <p:nvPr/>
        </p:nvSpPr>
        <p:spPr>
          <a:xfrm>
            <a:off x="2881733" y="1863407"/>
            <a:ext cx="3050335" cy="49884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pPr marL="88900" indent="0" algn="ctr">
              <a:buFont typeface="Archivo Narrow"/>
              <a:buNone/>
            </a:pPr>
            <a:r>
              <a:rPr lang="en-US" sz="1600" b="1" dirty="0">
                <a:latin typeface="Times New Roman" panose="02020603050405020304" pitchFamily="18" charset="0"/>
                <a:cs typeface="Times New Roman" panose="02020603050405020304" pitchFamily="18" charset="0"/>
              </a:rPr>
              <a:t>Limitations</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 real-time faculty availability</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Schedule changes are not updated instantly</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Exact faculty name is often required</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Notices must be updated manually</a:t>
            </a:r>
          </a:p>
          <a:p>
            <a:pPr marL="8318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546100" lvl="1" indent="0">
              <a:buFont typeface="Archivo Narrow"/>
              <a:buNone/>
            </a:pPr>
            <a:endParaRPr lang="en-US" sz="1400" dirty="0">
              <a:latin typeface="Times New Roman" panose="02020603050405020304" pitchFamily="18" charset="0"/>
              <a:cs typeface="Times New Roman" panose="02020603050405020304" pitchFamily="18" charset="0"/>
            </a:endParaRPr>
          </a:p>
        </p:txBody>
      </p:sp>
      <p:sp>
        <p:nvSpPr>
          <p:cNvPr id="3" name="Shape 124">
            <a:extLst>
              <a:ext uri="{FF2B5EF4-FFF2-40B4-BE49-F238E27FC236}">
                <a16:creationId xmlns:a16="http://schemas.microsoft.com/office/drawing/2014/main" id="{81C2CF6C-E987-2A13-E7C8-7FB2A791BA2C}"/>
              </a:ext>
            </a:extLst>
          </p:cNvPr>
          <p:cNvSpPr txBox="1">
            <a:spLocks/>
          </p:cNvSpPr>
          <p:nvPr/>
        </p:nvSpPr>
        <p:spPr>
          <a:xfrm>
            <a:off x="5932068" y="1869538"/>
            <a:ext cx="3050335" cy="49884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pPr marL="88900" indent="0" algn="ctr">
              <a:buFont typeface="Archivo Narrow"/>
              <a:buNone/>
            </a:pPr>
            <a:r>
              <a:rPr lang="en-US" sz="1600" b="1" dirty="0">
                <a:latin typeface="Times New Roman" panose="02020603050405020304" pitchFamily="18" charset="0"/>
                <a:cs typeface="Times New Roman" panose="02020603050405020304" pitchFamily="18" charset="0"/>
              </a:rPr>
              <a:t>Research Gap</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 single platform combines:</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Real-time availability</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Intelligent faculty search</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Automated schedule updates</a:t>
            </a:r>
          </a:p>
          <a:p>
            <a:pPr marL="8318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Context-aware notice suggestions</a:t>
            </a:r>
          </a:p>
          <a:p>
            <a:pPr marL="546100" lvl="1" indent="0">
              <a:buFont typeface="Archivo Narrow"/>
              <a:buNone/>
            </a:pPr>
            <a:endParaRPr lang="en-US" sz="1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5A8FD9D-1F2E-2E96-E0A1-BF189E6AD4BF}"/>
              </a:ext>
            </a:extLst>
          </p:cNvPr>
          <p:cNvSpPr txBox="1"/>
          <p:nvPr/>
        </p:nvSpPr>
        <p:spPr>
          <a:xfrm>
            <a:off x="692727" y="4581236"/>
            <a:ext cx="7509164" cy="129266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Project Justification</a:t>
            </a:r>
          </a:p>
          <a:p>
            <a:r>
              <a:rPr lang="en-US" sz="1600" dirty="0">
                <a:latin typeface="Times New Roman" panose="02020603050405020304" pitchFamily="18" charset="0"/>
                <a:cs typeface="Times New Roman" panose="02020603050405020304" pitchFamily="18" charset="0"/>
              </a:rPr>
              <a:t>ChristSmart Cabin Finder addresses these gaps by providing a centralized smart campus platform that enables students to quickly locate faculty members and check their real-time availability while allowing faculty to manage and approve status updates efficiently.</a:t>
            </a:r>
          </a:p>
          <a:p>
            <a:endParaRPr lang="en-IN" dirty="0"/>
          </a:p>
        </p:txBody>
      </p:sp>
    </p:spTree>
    <p:extLst>
      <p:ext uri="{BB962C8B-B14F-4D97-AF65-F5344CB8AC3E}">
        <p14:creationId xmlns:p14="http://schemas.microsoft.com/office/powerpoint/2010/main" val="918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GB" dirty="0">
                <a:latin typeface="Times New Roman" panose="02020603050405020304" pitchFamily="18" charset="0"/>
                <a:cs typeface="Times New Roman" panose="02020603050405020304" pitchFamily="18" charset="0"/>
              </a:rPr>
              <a:t>Hardware and Software Requirements</a:t>
            </a:r>
            <a:endParaRPr dirty="0">
              <a:latin typeface="Times New Roman" panose="02020603050405020304" pitchFamily="18" charset="0"/>
              <a:cs typeface="Times New Roman" panose="02020603050405020304" pitchFamily="18" charset="0"/>
            </a:endParaRPr>
          </a:p>
        </p:txBody>
      </p:sp>
      <p:sp>
        <p:nvSpPr>
          <p:cNvPr id="124" name="Shape 124"/>
          <p:cNvSpPr txBox="1">
            <a:spLocks noGrp="1"/>
          </p:cNvSpPr>
          <p:nvPr>
            <p:ph type="body" idx="1"/>
          </p:nvPr>
        </p:nvSpPr>
        <p:spPr>
          <a:xfrm>
            <a:off x="311700" y="1540423"/>
            <a:ext cx="8403675" cy="4545619"/>
          </a:xfrm>
          <a:prstGeom prst="rect">
            <a:avLst/>
          </a:prstGeom>
        </p:spPr>
        <p:txBody>
          <a:bodyPr spcFirstLastPara="1" wrap="square" lIns="91425" tIns="91425" rIns="91425" bIns="91425" anchor="t" anchorCtr="0">
            <a:noAutofit/>
          </a:bodyPr>
          <a:lstStyle/>
          <a:p>
            <a:pPr marL="88900" indent="0">
              <a:buNone/>
            </a:pPr>
            <a:r>
              <a:rPr lang="en-IN" sz="1800" b="1" dirty="0">
                <a:latin typeface="Times New Roman" panose="02020603050405020304" pitchFamily="18" charset="0"/>
                <a:cs typeface="Times New Roman" panose="02020603050405020304" pitchFamily="18" charset="0"/>
              </a:rPr>
              <a:t>Software Requirements</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Frontend: React 19, Vite, CSS3</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Backend: Node.js, Express.js</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Database: PostgreSQL</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Authentication: JWT, BcryptJS</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Utilities: Multer, pdf-parse, Tesseract OCR, Helmet</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Operating System: Windows / Linux / macOS</a:t>
            </a:r>
          </a:p>
          <a:p>
            <a:pPr marL="88900" indent="0">
              <a:buNone/>
            </a:pPr>
            <a:endParaRPr lang="en-IN" sz="1600" b="1" dirty="0">
              <a:latin typeface="Times New Roman" panose="02020603050405020304" pitchFamily="18" charset="0"/>
              <a:cs typeface="Times New Roman" panose="02020603050405020304" pitchFamily="18" charset="0"/>
            </a:endParaRPr>
          </a:p>
          <a:p>
            <a:pPr marL="88900" indent="0">
              <a:buNone/>
            </a:pPr>
            <a:r>
              <a:rPr lang="en-IN" sz="1800" b="1" dirty="0">
                <a:latin typeface="Times New Roman" panose="02020603050405020304" pitchFamily="18" charset="0"/>
                <a:cs typeface="Times New Roman" panose="02020603050405020304" pitchFamily="18" charset="0"/>
              </a:rPr>
              <a:t>Hardware Requirements</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Processor: Intel/AMD Multi-Core</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RAM: Minimum 4 GB</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Storage: 10 GB free space</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Network: Internet connection</a:t>
            </a:r>
          </a:p>
          <a:p>
            <a:pPr marL="8318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Client Device: Any modern laptop or desktop with a web browser</a:t>
            </a:r>
          </a:p>
          <a:p>
            <a:pPr marL="546100" lvl="1" indent="0">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895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4E6A55E0-7043-33FF-1A6F-3EEE83339F1C}"/>
            </a:ext>
          </a:extLst>
        </p:cNvPr>
        <p:cNvGrpSpPr/>
        <p:nvPr/>
      </p:nvGrpSpPr>
      <p:grpSpPr>
        <a:xfrm>
          <a:off x="0" y="0"/>
          <a:ext cx="0" cy="0"/>
          <a:chOff x="0" y="0"/>
          <a:chExt cx="0" cy="0"/>
        </a:xfrm>
      </p:grpSpPr>
      <p:sp>
        <p:nvSpPr>
          <p:cNvPr id="123" name="Shape 123">
            <a:extLst>
              <a:ext uri="{FF2B5EF4-FFF2-40B4-BE49-F238E27FC236}">
                <a16:creationId xmlns:a16="http://schemas.microsoft.com/office/drawing/2014/main" id="{DC9AD9CD-27E7-9512-A489-F2DE8DCE3C29}"/>
              </a:ext>
            </a:extLst>
          </p:cNvPr>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latin typeface="Times New Roman" panose="02020603050405020304" pitchFamily="18" charset="0"/>
                <a:cs typeface="Times New Roman" panose="02020603050405020304" pitchFamily="18" charset="0"/>
              </a:rPr>
              <a:t>System Architecture </a:t>
            </a:r>
            <a:endParaRPr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AE52DCA-6008-03C4-ED0D-8F01C2ACBDE0}"/>
              </a:ext>
            </a:extLst>
          </p:cNvPr>
          <p:cNvPicPr>
            <a:picLocks noChangeAspect="1"/>
          </p:cNvPicPr>
          <p:nvPr/>
        </p:nvPicPr>
        <p:blipFill>
          <a:blip r:embed="rId3"/>
          <a:stretch>
            <a:fillRect/>
          </a:stretch>
        </p:blipFill>
        <p:spPr>
          <a:xfrm>
            <a:off x="618836" y="1690149"/>
            <a:ext cx="7601527" cy="4246165"/>
          </a:xfrm>
          <a:prstGeom prst="rect">
            <a:avLst/>
          </a:prstGeom>
        </p:spPr>
      </p:pic>
    </p:spTree>
    <p:extLst>
      <p:ext uri="{BB962C8B-B14F-4D97-AF65-F5344CB8AC3E}">
        <p14:creationId xmlns:p14="http://schemas.microsoft.com/office/powerpoint/2010/main" val="2778306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44876"/>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Timeline</a:t>
            </a:r>
            <a:endParaRPr dirty="0">
              <a:latin typeface="Times New Roman" panose="02020603050405020304" pitchFamily="18" charset="0"/>
              <a:cs typeface="Times New Roman" panose="02020603050405020304" pitchFamily="18" charset="0"/>
            </a:endParaRPr>
          </a:p>
        </p:txBody>
      </p:sp>
      <p:sp>
        <p:nvSpPr>
          <p:cNvPr id="124" name="Shape 124"/>
          <p:cNvSpPr txBox="1">
            <a:spLocks noGrp="1"/>
          </p:cNvSpPr>
          <p:nvPr>
            <p:ph type="body" idx="1"/>
          </p:nvPr>
        </p:nvSpPr>
        <p:spPr>
          <a:xfrm>
            <a:off x="311700" y="1536976"/>
            <a:ext cx="8403675" cy="4212659"/>
          </a:xfrm>
          <a:prstGeom prst="rect">
            <a:avLst/>
          </a:prstGeom>
        </p:spPr>
        <p:txBody>
          <a:bodyPr spcFirstLastPara="1" wrap="square" lIns="91425" tIns="91425" rIns="91425" bIns="91425" anchor="t" anchorCtr="0">
            <a:noAutofit/>
          </a:bodyPr>
          <a:lstStyle/>
          <a:p>
            <a:endParaRPr lang="en-IN" sz="2500" dirty="0">
              <a:latin typeface="Book Antiqua" panose="02040602050305030304" pitchFamily="18" charset="0"/>
            </a:endParaRPr>
          </a:p>
          <a:p>
            <a:endParaRPr lang="en-IN" sz="2500" dirty="0">
              <a:latin typeface="Book Antiqua" panose="02040602050305030304" pitchFamily="18" charset="0"/>
            </a:endParaRPr>
          </a:p>
          <a:p>
            <a:endParaRPr lang="en-IN" sz="2500" dirty="0">
              <a:latin typeface="Book Antiqua" panose="02040602050305030304" pitchFamily="18" charset="0"/>
            </a:endParaRPr>
          </a:p>
          <a:p>
            <a:pPr marL="88900" indent="0">
              <a:buNone/>
            </a:pPr>
            <a:endParaRPr lang="en-IN" sz="2500" dirty="0">
              <a:latin typeface="Book Antiqua" panose="02040602050305030304" pitchFamily="18" charset="0"/>
            </a:endParaRPr>
          </a:p>
        </p:txBody>
      </p:sp>
      <p:sp>
        <p:nvSpPr>
          <p:cNvPr id="6" name="Shape 124"/>
          <p:cNvSpPr txBox="1">
            <a:spLocks/>
          </p:cNvSpPr>
          <p:nvPr/>
        </p:nvSpPr>
        <p:spPr>
          <a:xfrm>
            <a:off x="311700" y="1540423"/>
            <a:ext cx="8403675" cy="4545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pPr marL="88900" indent="0">
              <a:spcAft>
                <a:spcPts val="1400"/>
              </a:spcAft>
              <a:buNone/>
            </a:pPr>
            <a:r>
              <a:rPr lang="en-IN" sz="2500" b="1" dirty="0">
                <a:solidFill>
                  <a:schemeClr val="tx1"/>
                </a:solidFill>
                <a:latin typeface="Times New Roman" panose="02020603050405020304" pitchFamily="18" charset="0"/>
                <a:cs typeface="Times New Roman" panose="02020603050405020304" pitchFamily="18" charset="0"/>
              </a:rPr>
              <a:t>Phase 1 (Weeks 1-2):</a:t>
            </a:r>
            <a:r>
              <a:rPr lang="en-IN" sz="2500" dirty="0">
                <a:solidFill>
                  <a:schemeClr val="tx1"/>
                </a:solidFill>
                <a:latin typeface="Times New Roman" panose="02020603050405020304" pitchFamily="18" charset="0"/>
                <a:cs typeface="Times New Roman" panose="02020603050405020304" pitchFamily="18" charset="0"/>
              </a:rPr>
              <a:t> Problem Definition, Requirement Gathering, &amp; Database Schema Design.</a:t>
            </a:r>
          </a:p>
          <a:p>
            <a:pPr marL="88900" indent="0">
              <a:spcAft>
                <a:spcPts val="1400"/>
              </a:spcAft>
              <a:buNone/>
            </a:pPr>
            <a:r>
              <a:rPr lang="en-IN" sz="2500" b="1" dirty="0">
                <a:solidFill>
                  <a:schemeClr val="tx1"/>
                </a:solidFill>
                <a:latin typeface="Times New Roman" panose="02020603050405020304" pitchFamily="18" charset="0"/>
                <a:cs typeface="Times New Roman" panose="02020603050405020304" pitchFamily="18" charset="0"/>
              </a:rPr>
              <a:t>Phase 2 (Weeks 3-5):</a:t>
            </a:r>
            <a:r>
              <a:rPr lang="en-IN" sz="2500" dirty="0">
                <a:solidFill>
                  <a:schemeClr val="tx1"/>
                </a:solidFill>
                <a:latin typeface="Times New Roman" panose="02020603050405020304" pitchFamily="18" charset="0"/>
                <a:cs typeface="Times New Roman" panose="02020603050405020304" pitchFamily="18" charset="0"/>
              </a:rPr>
              <a:t> Backend REST API Development, Auth Routes, &amp; Levenshtein NLP Query Matching.</a:t>
            </a:r>
          </a:p>
          <a:p>
            <a:pPr marL="88900" indent="0">
              <a:spcAft>
                <a:spcPts val="1400"/>
              </a:spcAft>
              <a:buNone/>
            </a:pPr>
            <a:r>
              <a:rPr lang="en-IN" sz="2500" b="1" dirty="0">
                <a:solidFill>
                  <a:schemeClr val="tx1"/>
                </a:solidFill>
                <a:latin typeface="Times New Roman" panose="02020603050405020304" pitchFamily="18" charset="0"/>
                <a:cs typeface="Times New Roman" panose="02020603050405020304" pitchFamily="18" charset="0"/>
              </a:rPr>
              <a:t>Phase 3 (Weeks 6-8):</a:t>
            </a:r>
            <a:r>
              <a:rPr lang="en-IN" sz="2500" dirty="0">
                <a:solidFill>
                  <a:schemeClr val="tx1"/>
                </a:solidFill>
                <a:latin typeface="Times New Roman" panose="02020603050405020304" pitchFamily="18" charset="0"/>
                <a:cs typeface="Times New Roman" panose="02020603050405020304" pitchFamily="18" charset="0"/>
              </a:rPr>
              <a:t> React Frontend Integration, Teacher Dashboard, &amp; PDF Timetable Parser.</a:t>
            </a:r>
          </a:p>
          <a:p>
            <a:pPr marL="88900" indent="0">
              <a:spcAft>
                <a:spcPts val="1400"/>
              </a:spcAft>
              <a:buNone/>
            </a:pPr>
            <a:r>
              <a:rPr lang="en-IN" sz="2500" b="1" dirty="0">
                <a:solidFill>
                  <a:schemeClr val="tx1"/>
                </a:solidFill>
                <a:latin typeface="Times New Roman" panose="02020603050405020304" pitchFamily="18" charset="0"/>
                <a:cs typeface="Times New Roman" panose="02020603050405020304" pitchFamily="18" charset="0"/>
              </a:rPr>
              <a:t>Phase 4 (Weeks 9-10):</a:t>
            </a:r>
            <a:r>
              <a:rPr lang="en-IN" sz="2500" dirty="0">
                <a:solidFill>
                  <a:schemeClr val="tx1"/>
                </a:solidFill>
                <a:latin typeface="Times New Roman" panose="02020603050405020304" pitchFamily="18" charset="0"/>
                <a:cs typeface="Times New Roman" panose="02020603050405020304" pitchFamily="18" charset="0"/>
              </a:rPr>
              <a:t> Automated Testing, UI/UX Refinement, Security Audit, &amp; Final System Deployment.</a:t>
            </a:r>
          </a:p>
        </p:txBody>
      </p:sp>
    </p:spTree>
    <p:extLst>
      <p:ext uri="{BB962C8B-B14F-4D97-AF65-F5344CB8AC3E}">
        <p14:creationId xmlns:p14="http://schemas.microsoft.com/office/powerpoint/2010/main" val="1926442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647062"/>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124" name="Shape 124"/>
          <p:cNvSpPr txBox="1">
            <a:spLocks noGrp="1"/>
          </p:cNvSpPr>
          <p:nvPr>
            <p:ph type="body" idx="1"/>
          </p:nvPr>
        </p:nvSpPr>
        <p:spPr>
          <a:xfrm>
            <a:off x="311700" y="1536976"/>
            <a:ext cx="8403675" cy="4212659"/>
          </a:xfrm>
          <a:prstGeom prst="rect">
            <a:avLst/>
          </a:prstGeom>
        </p:spPr>
        <p:txBody>
          <a:bodyPr spcFirstLastPara="1" wrap="square" lIns="91425" tIns="91425" rIns="91425" bIns="91425" anchor="t" anchorCtr="0">
            <a:noAutofit/>
          </a:bodyPr>
          <a:lstStyle/>
          <a:p>
            <a:endParaRPr lang="en-IN" sz="2500" dirty="0">
              <a:latin typeface="Book Antiqua" panose="02040602050305030304" pitchFamily="18" charset="0"/>
            </a:endParaRPr>
          </a:p>
          <a:p>
            <a:endParaRPr lang="en-IN" sz="2500" dirty="0">
              <a:latin typeface="Book Antiqua" panose="02040602050305030304" pitchFamily="18" charset="0"/>
            </a:endParaRPr>
          </a:p>
          <a:p>
            <a:endParaRPr lang="en-IN" sz="2500" dirty="0">
              <a:latin typeface="Book Antiqua" panose="02040602050305030304" pitchFamily="18" charset="0"/>
            </a:endParaRPr>
          </a:p>
          <a:p>
            <a:pPr marL="88900" indent="0">
              <a:buNone/>
            </a:pPr>
            <a:endParaRPr lang="en-IN" sz="2500" dirty="0">
              <a:latin typeface="Book Antiqua" panose="02040602050305030304" pitchFamily="18" charset="0"/>
            </a:endParaRPr>
          </a:p>
        </p:txBody>
      </p:sp>
      <p:sp>
        <p:nvSpPr>
          <p:cNvPr id="6" name="Shape 124"/>
          <p:cNvSpPr txBox="1">
            <a:spLocks/>
          </p:cNvSpPr>
          <p:nvPr/>
        </p:nvSpPr>
        <p:spPr>
          <a:xfrm>
            <a:off x="311700" y="1300278"/>
            <a:ext cx="8403675" cy="4545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pPr marL="88900" indent="0">
              <a:buNone/>
            </a:pPr>
            <a:r>
              <a:rPr lang="en-IN" sz="1600" dirty="0">
                <a:latin typeface="Times New Roman" panose="02020603050405020304" pitchFamily="18" charset="0"/>
                <a:cs typeface="Times New Roman" panose="02020603050405020304" pitchFamily="18" charset="0"/>
              </a:rPr>
              <a:t>[1] A. Rahaman, S. Das, and M. Hossain, “EduBot: An AI-Powered Chatbot for Smart Campus Assistance,” International Journal of Research and Innovation in Technology (IJRIT), vol. 11, no. 3, pp. 45–52, 2025. </a:t>
            </a:r>
          </a:p>
          <a:p>
            <a:pPr marL="88900" indent="0">
              <a:buNone/>
            </a:pPr>
            <a:r>
              <a:rPr lang="en-IN" sz="1600" dirty="0">
                <a:latin typeface="Times New Roman" panose="02020603050405020304" pitchFamily="18" charset="0"/>
                <a:cs typeface="Times New Roman" panose="02020603050405020304" pitchFamily="18" charset="0"/>
              </a:rPr>
              <a:t>[2] V. Kumar and S. Patel, “Smart Campus Bot with IoT and NLP Integration,” International Journal of Innovative Research in Technology (IJIRT), vol. 11, no. 5, pp. 210–218, 2025. </a:t>
            </a:r>
          </a:p>
          <a:p>
            <a:pPr marL="88900" indent="0">
              <a:buNone/>
            </a:pPr>
            <a:r>
              <a:rPr lang="en-IN" sz="1600" dirty="0">
                <a:latin typeface="Times New Roman" panose="02020603050405020304" pitchFamily="18" charset="0"/>
                <a:cs typeface="Times New Roman" panose="02020603050405020304" pitchFamily="18" charset="0"/>
              </a:rPr>
              <a:t>[3] V. I. Levenshtein, “Binary Codes Capable of Correcting Deletions, Insertions, and Reversals,” Soviet Physics Doklady, vol. 10, no. 8, pp. 707–710, 1966. </a:t>
            </a:r>
          </a:p>
          <a:p>
            <a:pPr marL="88900" indent="0">
              <a:buNone/>
            </a:pPr>
            <a:r>
              <a:rPr lang="en-IN" sz="1600" dirty="0">
                <a:latin typeface="Times New Roman" panose="02020603050405020304" pitchFamily="18" charset="0"/>
                <a:cs typeface="Times New Roman" panose="02020603050405020304" pitchFamily="18" charset="0"/>
              </a:rPr>
              <a:t>[4] E. Unggul, “Implementation of Levenshtein Distance Algorithm for Academic Inquiry Chatbots,” Telkom University, Bandung, Indonesia, 2024. </a:t>
            </a:r>
          </a:p>
          <a:p>
            <a:pPr marL="88900" indent="0">
              <a:buNone/>
            </a:pPr>
            <a:r>
              <a:rPr lang="en-IN" sz="1600" dirty="0">
                <a:latin typeface="Times New Roman" panose="02020603050405020304" pitchFamily="18" charset="0"/>
                <a:cs typeface="Times New Roman" panose="02020603050405020304" pitchFamily="18" charset="0"/>
              </a:rPr>
              <a:t>[5] M. Zhang, Y. Chen, and L. Wang, “Graph Retrieval for Constraint-Aware Campus Spatial Reasoning,” arXiv preprint arXiv:2403.04567, 2024. </a:t>
            </a:r>
          </a:p>
          <a:p>
            <a:pPr marL="88900" indent="0">
              <a:buNone/>
            </a:pPr>
            <a:r>
              <a:rPr lang="en-IN" sz="1600" dirty="0">
                <a:latin typeface="Times New Roman" panose="02020603050405020304" pitchFamily="18" charset="0"/>
                <a:cs typeface="Times New Roman" panose="02020603050405020304" pitchFamily="18" charset="0"/>
              </a:rPr>
              <a:t>[6] Mozilla Developer Network, “Express.js Documentation,” Available: https://expressjs.com/ . Accessed: July 2026. </a:t>
            </a:r>
          </a:p>
          <a:p>
            <a:pPr marL="88900" indent="0">
              <a:buNone/>
            </a:pPr>
            <a:r>
              <a:rPr lang="en-IN" sz="1600" dirty="0">
                <a:latin typeface="Times New Roman" panose="02020603050405020304" pitchFamily="18" charset="0"/>
                <a:cs typeface="Times New Roman" panose="02020603050405020304" pitchFamily="18" charset="0"/>
              </a:rPr>
              <a:t>[7] PostgreSQL Global Development Group, “PostgreSQL Documentation,” Available: https://www.postgresql.org/docs/ . Accessed: July 2026.</a:t>
            </a:r>
          </a:p>
          <a:p>
            <a:pPr marL="88900" indent="0">
              <a:buNone/>
            </a:pPr>
            <a:r>
              <a:rPr lang="en-IN" sz="1600" dirty="0">
                <a:latin typeface="Times New Roman" panose="02020603050405020304" pitchFamily="18" charset="0"/>
                <a:cs typeface="Times New Roman" panose="02020603050405020304" pitchFamily="18" charset="0"/>
              </a:rPr>
              <a:t> [8] Google Developers, “Gmail API Documentation,” Available: https://developers.google.com/gmail/api . Accessed: July 2026.</a:t>
            </a:r>
          </a:p>
          <a:p>
            <a:pPr marL="88900" indent="0">
              <a:buNone/>
            </a:pPr>
            <a:r>
              <a:rPr lang="en-IN" sz="1600" dirty="0">
                <a:latin typeface="Times New Roman" panose="02020603050405020304" pitchFamily="18" charset="0"/>
                <a:cs typeface="Times New Roman" panose="02020603050405020304" pitchFamily="18" charset="0"/>
              </a:rPr>
              <a:t> [9] Tesseract OCR Project, “Tesseract.js Documentation,” Available: https://tesseract.projectnaptha.com/ . Accessed: July 2026.</a:t>
            </a:r>
          </a:p>
        </p:txBody>
      </p:sp>
    </p:spTree>
    <p:extLst>
      <p:ext uri="{BB962C8B-B14F-4D97-AF65-F5344CB8AC3E}">
        <p14:creationId xmlns:p14="http://schemas.microsoft.com/office/powerpoint/2010/main" val="39867741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972</TotalTime>
  <Words>946</Words>
  <Application>Microsoft Office PowerPoint</Application>
  <PresentationFormat>On-screen Show (4:3)</PresentationFormat>
  <Paragraphs>104</Paragraphs>
  <Slides>11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Georgia</vt:lpstr>
      <vt:lpstr>Book Antiqua</vt:lpstr>
      <vt:lpstr>Times New Roman</vt:lpstr>
      <vt:lpstr>Archivo Narrow</vt:lpstr>
      <vt:lpstr>Arial</vt:lpstr>
      <vt:lpstr>Simple Light</vt:lpstr>
      <vt:lpstr>Christ Cabin Finder Real-Time Faculty Location &amp; Availability Assistant </vt:lpstr>
      <vt:lpstr>Agenda</vt:lpstr>
      <vt:lpstr>Abstract</vt:lpstr>
      <vt:lpstr>Problem Statement </vt:lpstr>
      <vt:lpstr>Objectives</vt:lpstr>
      <vt:lpstr>Literature Review / Background Study</vt:lpstr>
      <vt:lpstr>Literature Review / Background Study</vt:lpstr>
      <vt:lpstr>Hardware and Software Requirements</vt:lpstr>
      <vt:lpstr>System Architecture </vt:lpstr>
      <vt:lpstr>Timeline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 and Project Management (CS832E02)</dc:title>
  <dc:creator>Bijeesh</dc:creator>
  <cp:lastModifiedBy>STEPHEN AKASH.J</cp:lastModifiedBy>
  <cp:revision>62</cp:revision>
  <dcterms:modified xsi:type="dcterms:W3CDTF">2026-07-22T08:19:29Z</dcterms:modified>
</cp:coreProperties>
</file>